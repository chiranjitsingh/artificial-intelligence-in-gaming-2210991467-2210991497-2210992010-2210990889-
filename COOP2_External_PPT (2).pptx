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4"/>
  </p:sldMasterIdLst>
  <p:notesMasterIdLst>
    <p:notesMasterId r:id="rId15"/>
  </p:notesMasterIdLst>
  <p:handoutMasterIdLst>
    <p:handoutMasterId r:id="rId16"/>
  </p:handoutMasterIdLst>
  <p:sldIdLst>
    <p:sldId id="256" r:id="rId5"/>
    <p:sldId id="257" r:id="rId6"/>
    <p:sldId id="269" r:id="rId7"/>
    <p:sldId id="270" r:id="rId8"/>
    <p:sldId id="271" r:id="rId9"/>
    <p:sldId id="272" r:id="rId10"/>
    <p:sldId id="273" r:id="rId11"/>
    <p:sldId id="274" r:id="rId12"/>
    <p:sldId id="275" r:id="rId13"/>
    <p:sldId id="268" r:id="rId14"/>
  </p:sldIdLst>
  <p:sldSz cx="9144000" cy="6858000" type="screen4x3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AB2E2"/>
    <a:srgbClr val="2A66AC"/>
    <a:srgbClr val="75A4DD"/>
    <a:srgbClr val="2E6CB8"/>
    <a:srgbClr val="2A65AC"/>
    <a:srgbClr val="255997"/>
    <a:srgbClr val="3379CD"/>
    <a:srgbClr val="558ED5"/>
    <a:srgbClr val="78A6DE"/>
    <a:srgbClr val="9DBE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1500" y="4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F607C9A-EDB5-4C0A-BCFE-81AAF6133E6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F00B0C-2831-4624-A5D3-43F42D30BA7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D2B5EB-424D-4C39-A8AB-65F1D7895EF3}" type="datetimeFigureOut">
              <a:rPr lang="en-US" smtClean="0"/>
              <a:pPr/>
              <a:t>5/18/2026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34ABA9-0C2F-480A-B554-A457296C39B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Name of the faculty [Group: G00] [Sem:2nd]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F3BA01-5457-4975-8BF5-D0EAD49D534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4199376-55CE-4213-A97D-9D70929AC50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002274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8BC1CF-45D5-4DEE-AAB8-8C5341844FC9}" type="datetimeFigureOut">
              <a:rPr lang="en-US" smtClean="0"/>
              <a:pPr/>
              <a:t>5/18/2026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4775" y="1336675"/>
            <a:ext cx="4810125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Name of the faculty [Group: G00] [Sem:2nd]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5A7523A-12D4-4E0F-9409-B3F845B483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122221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A7523A-12D4-4E0F-9409-B3F845B48333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99BB95-9755-4BC6-8051-C2B8CF54F2A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Name of the faculty [Group: G00] [Sem:2nd]</a:t>
            </a:r>
          </a:p>
        </p:txBody>
      </p:sp>
    </p:spTree>
    <p:extLst>
      <p:ext uri="{BB962C8B-B14F-4D97-AF65-F5344CB8AC3E}">
        <p14:creationId xmlns:p14="http://schemas.microsoft.com/office/powerpoint/2010/main" val="42548747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 dirty="0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subTitle"/>
          </p:nvPr>
        </p:nvSpPr>
        <p:spPr>
          <a:xfrm>
            <a:off x="0" y="0"/>
            <a:ext cx="5486040" cy="4238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body"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body"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body"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5" name="PlaceHolder 7"/>
          <p:cNvSpPr>
            <a:spLocks noGrp="1"/>
          </p:cNvSpPr>
          <p:nvPr>
            <p:ph type="body"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jpe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ustomShape 1"/>
          <p:cNvSpPr/>
          <p:nvPr/>
        </p:nvSpPr>
        <p:spPr>
          <a:xfrm>
            <a:off x="0" y="0"/>
            <a:ext cx="9143640" cy="837720"/>
          </a:xfrm>
          <a:prstGeom prst="rect">
            <a:avLst/>
          </a:prstGeom>
          <a:solidFill>
            <a:srgbClr val="FF3300"/>
          </a:solidFill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1" name="CustomShape 2"/>
          <p:cNvSpPr/>
          <p:nvPr/>
        </p:nvSpPr>
        <p:spPr>
          <a:xfrm flipV="1">
            <a:off x="0" y="6704640"/>
            <a:ext cx="9143640" cy="197640"/>
          </a:xfrm>
          <a:prstGeom prst="rect">
            <a:avLst/>
          </a:prstGeom>
          <a:solidFill>
            <a:srgbClr val="FF0000"/>
          </a:solidFill>
          <a:ln w="9360">
            <a:noFill/>
          </a:ln>
          <a:scene3d>
            <a:camera prst="orthographicFront"/>
            <a:lightRig rig="threePt" dir="t"/>
          </a:scene3d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Picture 10" descr="LOGO.gif"/>
          <p:cNvPicPr/>
          <p:nvPr/>
        </p:nvPicPr>
        <p:blipFill>
          <a:blip r:embed="rId14"/>
          <a:srcRect b="10718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ln w="9360">
            <a:noFill/>
          </a:ln>
        </p:spPr>
      </p:pic>
      <p:pic>
        <p:nvPicPr>
          <p:cNvPr id="3" name="Picture 10" descr="LOGO.gif"/>
          <p:cNvPicPr/>
          <p:nvPr/>
        </p:nvPicPr>
        <p:blipFill>
          <a:blip r:embed="rId14"/>
          <a:srcRect b="10718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ln w="9360">
            <a:noFill/>
          </a:ln>
        </p:spPr>
      </p:pic>
      <p:grpSp>
        <p:nvGrpSpPr>
          <p:cNvPr id="4" name="Group 3"/>
          <p:cNvGrpSpPr/>
          <p:nvPr/>
        </p:nvGrpSpPr>
        <p:grpSpPr>
          <a:xfrm>
            <a:off x="6146640" y="0"/>
            <a:ext cx="2997000" cy="875880"/>
            <a:chOff x="6146640" y="0"/>
            <a:chExt cx="2997000" cy="875880"/>
          </a:xfrm>
        </p:grpSpPr>
        <p:sp>
          <p:nvSpPr>
            <p:cNvPr id="5" name="CustomShape 4"/>
            <p:cNvSpPr/>
            <p:nvPr/>
          </p:nvSpPr>
          <p:spPr>
            <a:xfrm>
              <a:off x="6146640" y="0"/>
              <a:ext cx="2997000" cy="837720"/>
            </a:xfrm>
            <a:prstGeom prst="rect">
              <a:avLst/>
            </a:prstGeom>
            <a:solidFill>
              <a:srgbClr val="FF3300"/>
            </a:solidFill>
            <a:ln w="936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pic>
          <p:nvPicPr>
            <p:cNvPr id="6" name="Picture 9" descr="LOGO.gif"/>
            <p:cNvPicPr/>
            <p:nvPr/>
          </p:nvPicPr>
          <p:blipFill>
            <a:blip r:embed="rId14"/>
            <a:srcRect b="10718"/>
            <a:stretch/>
          </p:blipFill>
          <p:spPr>
            <a:xfrm>
              <a:off x="6553080" y="228600"/>
              <a:ext cx="2057040" cy="634680"/>
            </a:xfrm>
            <a:prstGeom prst="rect">
              <a:avLst/>
            </a:prstGeom>
            <a:ln w="9360">
              <a:noFill/>
            </a:ln>
          </p:spPr>
        </p:pic>
        <p:sp>
          <p:nvSpPr>
            <p:cNvPr id="7" name="CustomShape 5"/>
            <p:cNvSpPr/>
            <p:nvPr/>
          </p:nvSpPr>
          <p:spPr>
            <a:xfrm>
              <a:off x="6527880" y="190440"/>
              <a:ext cx="2076120" cy="685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</p:grpSp>
      <p:pic>
        <p:nvPicPr>
          <p:cNvPr id="8" name="Picture 15" descr="logo.jpg"/>
          <p:cNvPicPr/>
          <p:nvPr/>
        </p:nvPicPr>
        <p:blipFill>
          <a:blip r:embed="rId15"/>
          <a:stretch/>
        </p:blipFill>
        <p:spPr>
          <a:xfrm>
            <a:off x="6553080" y="228600"/>
            <a:ext cx="1920600" cy="609120"/>
          </a:xfrm>
          <a:prstGeom prst="rect">
            <a:avLst/>
          </a:prstGeom>
          <a:ln w="9360">
            <a:noFill/>
          </a:ln>
        </p:spPr>
      </p:pic>
      <p:pic>
        <p:nvPicPr>
          <p:cNvPr id="9" name="Picture 10" descr="LOGO.gif"/>
          <p:cNvPicPr/>
          <p:nvPr/>
        </p:nvPicPr>
        <p:blipFill>
          <a:blip r:embed="rId14"/>
          <a:srcRect b="10718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ln w="9360">
            <a:noFill/>
          </a:ln>
        </p:spPr>
      </p:pic>
      <p:grpSp>
        <p:nvGrpSpPr>
          <p:cNvPr id="10" name="Group 6"/>
          <p:cNvGrpSpPr/>
          <p:nvPr/>
        </p:nvGrpSpPr>
        <p:grpSpPr>
          <a:xfrm>
            <a:off x="6146640" y="0"/>
            <a:ext cx="2997000" cy="875880"/>
            <a:chOff x="6146640" y="0"/>
            <a:chExt cx="2997000" cy="875880"/>
          </a:xfrm>
        </p:grpSpPr>
        <p:sp>
          <p:nvSpPr>
            <p:cNvPr id="11" name="CustomShape 7"/>
            <p:cNvSpPr/>
            <p:nvPr/>
          </p:nvSpPr>
          <p:spPr>
            <a:xfrm>
              <a:off x="6146640" y="0"/>
              <a:ext cx="2997000" cy="837720"/>
            </a:xfrm>
            <a:prstGeom prst="rect">
              <a:avLst/>
            </a:prstGeom>
            <a:solidFill>
              <a:srgbClr val="FF3300"/>
            </a:solidFill>
            <a:ln w="936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pic>
          <p:nvPicPr>
            <p:cNvPr id="12" name="Picture 9" descr="LOGO.gif"/>
            <p:cNvPicPr/>
            <p:nvPr/>
          </p:nvPicPr>
          <p:blipFill>
            <a:blip r:embed="rId14"/>
            <a:srcRect b="10718"/>
            <a:stretch/>
          </p:blipFill>
          <p:spPr>
            <a:xfrm>
              <a:off x="6553080" y="228600"/>
              <a:ext cx="2057040" cy="634680"/>
            </a:xfrm>
            <a:prstGeom prst="rect">
              <a:avLst/>
            </a:prstGeom>
            <a:ln w="9360">
              <a:noFill/>
            </a:ln>
          </p:spPr>
        </p:pic>
        <p:sp>
          <p:nvSpPr>
            <p:cNvPr id="13" name="CustomShape 8"/>
            <p:cNvSpPr/>
            <p:nvPr/>
          </p:nvSpPr>
          <p:spPr>
            <a:xfrm>
              <a:off x="6527880" y="190440"/>
              <a:ext cx="2076120" cy="685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</p:grpSp>
      <p:pic>
        <p:nvPicPr>
          <p:cNvPr id="14" name="Picture 15" descr="logo.jpg"/>
          <p:cNvPicPr/>
          <p:nvPr/>
        </p:nvPicPr>
        <p:blipFill>
          <a:blip r:embed="rId15"/>
          <a:stretch/>
        </p:blipFill>
        <p:spPr>
          <a:xfrm>
            <a:off x="6553080" y="228600"/>
            <a:ext cx="1920600" cy="609120"/>
          </a:xfrm>
          <a:prstGeom prst="rect">
            <a:avLst/>
          </a:prstGeom>
          <a:ln w="9360">
            <a:noFill/>
          </a:ln>
        </p:spPr>
      </p:pic>
      <p:sp>
        <p:nvSpPr>
          <p:cNvPr id="15" name="PlaceHolder 9"/>
          <p:cNvSpPr>
            <a:spLocks noGrp="1"/>
          </p:cNvSpPr>
          <p:nvPr>
            <p:ph type="title"/>
          </p:nvPr>
        </p:nvSpPr>
        <p:spPr>
          <a:xfrm>
            <a:off x="0" y="0"/>
            <a:ext cx="6476760" cy="83772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30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Click to edit Master title style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10"/>
          <p:cNvSpPr>
            <a:spLocks noGrp="1"/>
          </p:cNvSpPr>
          <p:nvPr>
            <p:ph type="body"/>
          </p:nvPr>
        </p:nvSpPr>
        <p:spPr>
          <a:xfrm>
            <a:off x="457200" y="1371600"/>
            <a:ext cx="8229240" cy="4525560"/>
          </a:xfrm>
          <a:prstGeom prst="rect">
            <a:avLst/>
          </a:prstGeom>
        </p:spPr>
        <p:txBody>
          <a:bodyPr>
            <a:noAutofit/>
          </a:bodyPr>
          <a:lstStyle/>
          <a:p>
            <a:pPr marL="343080" indent="-34272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Click to edit Master text styles</a:t>
            </a:r>
            <a:endParaRPr lang="en-US" sz="3200" b="0" strike="noStrike" spc="-1" dirty="0">
              <a:solidFill>
                <a:srgbClr val="000000"/>
              </a:solidFill>
              <a:latin typeface="Calibri"/>
            </a:endParaRPr>
          </a:p>
          <a:p>
            <a:pPr marL="743040" lvl="1" indent="-28548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Second level</a:t>
            </a:r>
            <a:endParaRPr lang="en-US" sz="2800" b="0" strike="noStrike" spc="-1" dirty="0">
              <a:solidFill>
                <a:srgbClr val="000000"/>
              </a:solidFill>
              <a:latin typeface="Calibri"/>
            </a:endParaRPr>
          </a:p>
          <a:p>
            <a:pPr marL="1143000" lvl="2" indent="-22824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Third level</a:t>
            </a:r>
            <a:endParaRPr lang="en-US" sz="2400" b="0" strike="noStrike" spc="-1" dirty="0">
              <a:solidFill>
                <a:srgbClr val="000000"/>
              </a:solidFill>
              <a:latin typeface="Calibri"/>
            </a:endParaRPr>
          </a:p>
          <a:p>
            <a:pPr marL="1600200" lvl="3" indent="-22824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Fourth level</a:t>
            </a: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  <a:p>
            <a:pPr marL="2057400" lvl="4" indent="-22824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Fifth level</a:t>
            </a: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11"/>
          <p:cNvSpPr>
            <a:spLocks noGrp="1"/>
          </p:cNvSpPr>
          <p:nvPr>
            <p:ph type="dt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>
              <a:lnSpc>
                <a:spcPct val="100000"/>
              </a:lnSpc>
            </a:pPr>
            <a:endParaRPr lang="en-GB" sz="1200" b="0" strike="noStrike" spc="-1">
              <a:latin typeface="Times New Roman"/>
            </a:endParaRPr>
          </a:p>
        </p:txBody>
      </p:sp>
      <p:sp>
        <p:nvSpPr>
          <p:cNvPr id="18" name="PlaceHolder 12"/>
          <p:cNvSpPr>
            <a:spLocks noGrp="1"/>
          </p:cNvSpPr>
          <p:nvPr>
            <p:ph type="ftr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r>
              <a:rPr lang="en-GB" sz="2400" b="0" strike="noStrike" spc="-1">
                <a:latin typeface="Times New Roman"/>
              </a:rPr>
              <a:t>Name</a:t>
            </a:r>
          </a:p>
        </p:txBody>
      </p:sp>
      <p:sp>
        <p:nvSpPr>
          <p:cNvPr id="19" name="PlaceHolder 13"/>
          <p:cNvSpPr>
            <a:spLocks noGrp="1"/>
          </p:cNvSpPr>
          <p:nvPr>
            <p:ph type="sldNum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1CFDC92E-FF5D-4613-8499-B15BC16E50D9}" type="slidenum">
              <a:rPr lang="en-US" sz="1200" b="0" strike="noStrike" spc="-1">
                <a:solidFill>
                  <a:srgbClr val="898989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‹#›</a:t>
            </a:fld>
            <a:endParaRPr lang="en-GB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Shape 1"/>
          <p:cNvSpPr txBox="1"/>
          <p:nvPr/>
        </p:nvSpPr>
        <p:spPr>
          <a:xfrm>
            <a:off x="0" y="840631"/>
            <a:ext cx="9144000" cy="5377289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IN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Project Presentation of </a:t>
            </a:r>
            <a:r>
              <a:rPr lang="en-US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CO-OP Project at Industry (Module-2) </a:t>
            </a:r>
            <a:r>
              <a:rPr lang="en-IN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(22CS421)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000" spc="-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On</a:t>
            </a:r>
          </a:p>
          <a:p>
            <a:pPr algn="ctr">
              <a:spcBef>
                <a:spcPts val="400"/>
              </a:spcBef>
            </a:pPr>
            <a:r>
              <a:rPr lang="en-US" sz="2000" dirty="0"/>
              <a:t>Artificial Intelligence in Gaming: Advancements, Applications &amp; Future Perspectives</a:t>
            </a:r>
            <a:endParaRPr lang="en-US" sz="2000" i="1" spc="-1" dirty="0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endParaRPr lang="en-US" sz="2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 algn="ctr">
              <a:spcBef>
                <a:spcPts val="400"/>
              </a:spcBef>
            </a:pPr>
            <a:r>
              <a:rPr lang="en-US" sz="2000" dirty="0"/>
              <a:t>Devanshu Kansal – 2210991497</a:t>
            </a:r>
            <a:br>
              <a:rPr lang="en-US" sz="2000" dirty="0"/>
            </a:br>
            <a:r>
              <a:rPr lang="en-US" sz="2000" dirty="0" err="1"/>
              <a:t>Pahul</a:t>
            </a:r>
            <a:r>
              <a:rPr lang="en-US" sz="2000" dirty="0"/>
              <a:t> Sharma – 2210992010</a:t>
            </a:r>
            <a:br>
              <a:rPr lang="en-US" sz="2000" dirty="0"/>
            </a:br>
            <a:r>
              <a:rPr lang="en-US" sz="2000" dirty="0"/>
              <a:t>Tanish Garg – 2210990889</a:t>
            </a:r>
            <a:br>
              <a:rPr lang="en-US" sz="2000" dirty="0"/>
            </a:br>
            <a:r>
              <a:rPr lang="en-US" sz="2000" dirty="0"/>
              <a:t>Chiranjit Singh Lamba – 2210991467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br>
              <a:rPr lang="en-US" sz="20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</a:br>
            <a:r>
              <a:rPr lang="en-US" sz="20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S</a:t>
            </a:r>
            <a:r>
              <a:rPr lang="en-US" sz="2000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upervised By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000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Dr. Preeti Saini</a:t>
            </a:r>
            <a:endParaRPr lang="en-US" sz="2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endParaRPr lang="en-US" sz="2000" spc="-1" dirty="0"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endParaRPr lang="en-US" sz="2000" spc="-1" dirty="0"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endParaRPr lang="en-US" sz="2000" spc="-1" dirty="0"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400" spc="-1" dirty="0"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Department of </a:t>
            </a:r>
            <a:r>
              <a:rPr lang="en-US" sz="2400" b="0" strike="noStrike" spc="-1" dirty="0"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Computer Science and Engineering, 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400" b="0" strike="noStrike" spc="-1" dirty="0"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Chitkara University, Punjab</a:t>
            </a:r>
          </a:p>
          <a:p>
            <a:pPr algn="ctr">
              <a:lnSpc>
                <a:spcPct val="150000"/>
              </a:lnSpc>
              <a:spcBef>
                <a:spcPts val="400"/>
              </a:spcBef>
            </a:pP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641"/>
              </a:spcBef>
            </a:pP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-1175658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endParaRPr lang="en-US" sz="36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2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/>
          <p:cNvSpPr txBox="1"/>
          <p:nvPr/>
        </p:nvSpPr>
        <p:spPr>
          <a:xfrm>
            <a:off x="305280" y="1009714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  <a:p>
            <a:pPr marL="342900" indent="-342900">
              <a:buFont typeface="Arial" panose="020B0604020202020204" pitchFamily="34" charset="0"/>
              <a:buChar char="•"/>
              <a:defRPr sz="2000">
                <a:solidFill>
                  <a:srgbClr val="2F2F2F"/>
                </a:solidFill>
              </a:defRPr>
            </a:pPr>
            <a:r>
              <a:rPr lang="en-US" sz="2000" dirty="0"/>
              <a:t>Artificial Intelligence has transformed modern gaming systems.</a:t>
            </a:r>
          </a:p>
          <a:p>
            <a:pPr marL="342900" indent="-342900">
              <a:buFont typeface="Arial" panose="020B0604020202020204" pitchFamily="34" charset="0"/>
              <a:buChar char="•"/>
              <a:defRPr sz="2000">
                <a:solidFill>
                  <a:srgbClr val="2F2F2F"/>
                </a:solidFill>
              </a:defRPr>
            </a:pPr>
            <a:endParaRPr lang="en-US" sz="2000" dirty="0"/>
          </a:p>
          <a:p>
            <a:pPr marL="342900" indent="-342900">
              <a:buFont typeface="Arial" panose="020B0604020202020204" pitchFamily="34" charset="0"/>
              <a:buChar char="•"/>
              <a:defRPr sz="2000">
                <a:solidFill>
                  <a:srgbClr val="2F2F2F"/>
                </a:solidFill>
              </a:defRPr>
            </a:pPr>
            <a:r>
              <a:rPr lang="en-US" sz="2000" dirty="0"/>
              <a:t>Traditional rule-based NPCs lacked adaptability and realism.</a:t>
            </a:r>
          </a:p>
          <a:p>
            <a:pPr marL="342900" indent="-342900">
              <a:buFont typeface="Arial" panose="020B0604020202020204" pitchFamily="34" charset="0"/>
              <a:buChar char="•"/>
              <a:defRPr sz="2000">
                <a:solidFill>
                  <a:srgbClr val="2F2F2F"/>
                </a:solidFill>
              </a:defRPr>
            </a:pPr>
            <a:endParaRPr lang="en-US" sz="2000" dirty="0"/>
          </a:p>
          <a:p>
            <a:pPr marL="342900" indent="-342900">
              <a:buFont typeface="Arial" panose="020B0604020202020204" pitchFamily="34" charset="0"/>
              <a:buChar char="•"/>
              <a:defRPr sz="2000">
                <a:solidFill>
                  <a:srgbClr val="2F2F2F"/>
                </a:solidFill>
              </a:defRPr>
            </a:pPr>
            <a:r>
              <a:rPr lang="en-US" sz="2000" dirty="0"/>
              <a:t>Machine Learning and Deep Learning improve gameplay experiences.</a:t>
            </a:r>
          </a:p>
          <a:p>
            <a:pPr marL="342900" indent="-342900">
              <a:buFont typeface="Arial" panose="020B0604020202020204" pitchFamily="34" charset="0"/>
              <a:buChar char="•"/>
              <a:defRPr sz="2000">
                <a:solidFill>
                  <a:srgbClr val="2F2F2F"/>
                </a:solidFill>
              </a:defRPr>
            </a:pPr>
            <a:endParaRPr lang="en-US" sz="2000" dirty="0"/>
          </a:p>
          <a:p>
            <a:pPr marL="342900" indent="-342900">
              <a:buFont typeface="Arial" panose="020B0604020202020204" pitchFamily="34" charset="0"/>
              <a:buChar char="•"/>
              <a:defRPr sz="2000">
                <a:solidFill>
                  <a:srgbClr val="2F2F2F"/>
                </a:solidFill>
              </a:defRPr>
            </a:pPr>
            <a:r>
              <a:rPr lang="en-US" sz="2000" dirty="0"/>
              <a:t>AI enables immersive and dynamic gaming environments.</a:t>
            </a:r>
          </a:p>
          <a:p>
            <a:pPr marL="342900" indent="-342900">
              <a:buFont typeface="Arial" panose="020B0604020202020204" pitchFamily="34" charset="0"/>
              <a:buChar char="•"/>
              <a:defRPr sz="2000">
                <a:solidFill>
                  <a:srgbClr val="2F2F2F"/>
                </a:solidFill>
              </a:defRPr>
            </a:pPr>
            <a:endParaRPr lang="en-US" sz="2000" dirty="0"/>
          </a:p>
          <a:p>
            <a:pPr marL="342900" indent="-342900">
              <a:buFont typeface="Arial" panose="020B0604020202020204" pitchFamily="34" charset="0"/>
              <a:buChar char="•"/>
              <a:defRPr sz="2000">
                <a:solidFill>
                  <a:srgbClr val="2F2F2F"/>
                </a:solidFill>
              </a:defRPr>
            </a:pPr>
            <a:r>
              <a:rPr lang="en-US" sz="2000" dirty="0"/>
              <a:t>Gaming industries increasingly rely on intelligent systems.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1400" dirty="0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4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400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4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4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4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4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4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4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4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4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400" b="0" strike="noStrike" spc="-1" dirty="0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D27DEE-4199-BB92-2558-AFFBD3935B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239486"/>
            <a:ext cx="5486040" cy="914040"/>
          </a:xfrm>
        </p:spPr>
        <p:txBody>
          <a:bodyPr/>
          <a:lstStyle/>
          <a:p>
            <a:r>
              <a:rPr lang="en-US" sz="3600" dirty="0"/>
              <a:t>Research Objectives</a:t>
            </a:r>
            <a:br>
              <a:rPr lang="en-US" sz="3600" dirty="0"/>
            </a:br>
            <a:endParaRPr lang="en-US" sz="360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4D46AA4-5088-9190-3843-046EB09A92FD}"/>
              </a:ext>
            </a:extLst>
          </p:cNvPr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pPr>
              <a:defRPr sz="2000">
                <a:solidFill>
                  <a:srgbClr val="2F2F2F"/>
                </a:solidFill>
              </a:defRPr>
            </a:pPr>
            <a:r>
              <a:rPr lang="en-US" dirty="0"/>
              <a:t>Examine the evolution of AI techniques in gaming.</a:t>
            </a:r>
          </a:p>
          <a:p>
            <a:pPr>
              <a:defRPr sz="2000">
                <a:solidFill>
                  <a:srgbClr val="2F2F2F"/>
                </a:solidFill>
              </a:defRPr>
            </a:pPr>
            <a:endParaRPr lang="en-US" dirty="0"/>
          </a:p>
          <a:p>
            <a:pPr>
              <a:defRPr sz="2000">
                <a:solidFill>
                  <a:srgbClr val="2F2F2F"/>
                </a:solidFill>
              </a:defRPr>
            </a:pPr>
            <a:r>
              <a:rPr lang="en-US" dirty="0"/>
              <a:t>Analyze AI applications in gameplay and development.</a:t>
            </a:r>
          </a:p>
          <a:p>
            <a:pPr>
              <a:defRPr sz="2000">
                <a:solidFill>
                  <a:srgbClr val="2F2F2F"/>
                </a:solidFill>
              </a:defRPr>
            </a:pPr>
            <a:endParaRPr lang="en-US" dirty="0"/>
          </a:p>
          <a:p>
            <a:pPr>
              <a:defRPr sz="2000">
                <a:solidFill>
                  <a:srgbClr val="2F2F2F"/>
                </a:solidFill>
              </a:defRPr>
            </a:pPr>
            <a:r>
              <a:rPr lang="en-US" dirty="0"/>
              <a:t>Evaluate the impact of AI on player engagement.</a:t>
            </a:r>
          </a:p>
          <a:p>
            <a:pPr>
              <a:defRPr sz="2000">
                <a:solidFill>
                  <a:srgbClr val="2F2F2F"/>
                </a:solidFill>
              </a:defRPr>
            </a:pPr>
            <a:endParaRPr lang="en-US" dirty="0"/>
          </a:p>
          <a:p>
            <a:pPr>
              <a:defRPr sz="2000">
                <a:solidFill>
                  <a:srgbClr val="2F2F2F"/>
                </a:solidFill>
              </a:defRPr>
            </a:pPr>
            <a:r>
              <a:rPr lang="en-US" dirty="0"/>
              <a:t>Identify future trends and research opportunities.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7771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85BFD-59AB-459B-CC0F-CCE95C0776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629" y="185057"/>
            <a:ext cx="5486040" cy="914040"/>
          </a:xfrm>
        </p:spPr>
        <p:txBody>
          <a:bodyPr/>
          <a:lstStyle/>
          <a:p>
            <a:r>
              <a:rPr lang="en-US" sz="3600" dirty="0"/>
              <a:t>AI Techniques in Gaming</a:t>
            </a:r>
            <a:br>
              <a:rPr lang="en-US" dirty="0"/>
            </a:b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5AC1BD-7A3C-A233-2837-15BC36534EC7}"/>
              </a:ext>
            </a:extLst>
          </p:cNvPr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pPr>
              <a:defRPr sz="2000">
                <a:solidFill>
                  <a:srgbClr val="2F2F2F"/>
                </a:solidFill>
              </a:defRPr>
            </a:pPr>
            <a:r>
              <a:rPr lang="en-US" dirty="0"/>
              <a:t>Machine Learning predicts player behavior patterns.</a:t>
            </a:r>
          </a:p>
          <a:p>
            <a:pPr>
              <a:defRPr sz="2000">
                <a:solidFill>
                  <a:srgbClr val="2F2F2F"/>
                </a:solidFill>
              </a:defRPr>
            </a:pPr>
            <a:endParaRPr lang="en-US" dirty="0"/>
          </a:p>
          <a:p>
            <a:pPr>
              <a:defRPr sz="2000">
                <a:solidFill>
                  <a:srgbClr val="2F2F2F"/>
                </a:solidFill>
              </a:defRPr>
            </a:pPr>
            <a:r>
              <a:rPr lang="en-US" dirty="0"/>
              <a:t>Deep Learning enables advanced perception and analytics.</a:t>
            </a:r>
          </a:p>
          <a:p>
            <a:pPr>
              <a:defRPr sz="2000">
                <a:solidFill>
                  <a:srgbClr val="2F2F2F"/>
                </a:solidFill>
              </a:defRPr>
            </a:pPr>
            <a:endParaRPr lang="en-US" dirty="0"/>
          </a:p>
          <a:p>
            <a:pPr>
              <a:defRPr sz="2000">
                <a:solidFill>
                  <a:srgbClr val="2F2F2F"/>
                </a:solidFill>
              </a:defRPr>
            </a:pPr>
            <a:r>
              <a:rPr lang="en-US" dirty="0"/>
              <a:t>Reinforcement Learning improves strategic gameplay.</a:t>
            </a:r>
          </a:p>
          <a:p>
            <a:pPr>
              <a:defRPr sz="2000">
                <a:solidFill>
                  <a:srgbClr val="2F2F2F"/>
                </a:solidFill>
              </a:defRPr>
            </a:pPr>
            <a:endParaRPr lang="en-US" dirty="0"/>
          </a:p>
          <a:p>
            <a:pPr>
              <a:defRPr sz="2000">
                <a:solidFill>
                  <a:srgbClr val="2F2F2F"/>
                </a:solidFill>
              </a:defRPr>
            </a:pPr>
            <a:r>
              <a:rPr lang="en-US" dirty="0"/>
              <a:t>Procedural Content Generation automates maps and levels.</a:t>
            </a:r>
          </a:p>
          <a:p>
            <a:pPr>
              <a:defRPr sz="2000">
                <a:solidFill>
                  <a:srgbClr val="2F2F2F"/>
                </a:solidFill>
              </a:defRPr>
            </a:pPr>
            <a:endParaRPr lang="en-US" dirty="0"/>
          </a:p>
          <a:p>
            <a:pPr>
              <a:defRPr sz="2000">
                <a:solidFill>
                  <a:srgbClr val="2F2F2F"/>
                </a:solidFill>
              </a:defRPr>
            </a:pPr>
            <a:r>
              <a:rPr lang="en-US" dirty="0"/>
              <a:t>Hybrid AI models combine multiple techniques.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63140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93E68-0EED-3B42-A22D-0E0AA76BFE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5943" y="217714"/>
            <a:ext cx="5486040" cy="914040"/>
          </a:xfrm>
        </p:spPr>
        <p:txBody>
          <a:bodyPr/>
          <a:lstStyle/>
          <a:p>
            <a:r>
              <a:rPr lang="en-US" dirty="0"/>
              <a:t>Applications of AI</a:t>
            </a:r>
            <a:br>
              <a:rPr lang="en-US" dirty="0"/>
            </a:b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9B0F6A-CC60-115F-AFF9-B3806E303767}"/>
              </a:ext>
            </a:extLst>
          </p:cNvPr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pPr>
              <a:defRPr sz="2000">
                <a:solidFill>
                  <a:srgbClr val="2F2F2F"/>
                </a:solidFill>
              </a:defRPr>
            </a:pPr>
            <a:r>
              <a:rPr lang="en-US" dirty="0"/>
              <a:t>Adaptive NPC behavior and intelligent interactions.</a:t>
            </a:r>
          </a:p>
          <a:p>
            <a:pPr>
              <a:defRPr sz="2000">
                <a:solidFill>
                  <a:srgbClr val="2F2F2F"/>
                </a:solidFill>
              </a:defRPr>
            </a:pPr>
            <a:endParaRPr lang="en-US" dirty="0"/>
          </a:p>
          <a:p>
            <a:pPr>
              <a:defRPr sz="2000">
                <a:solidFill>
                  <a:srgbClr val="2F2F2F"/>
                </a:solidFill>
              </a:defRPr>
            </a:pPr>
            <a:r>
              <a:rPr lang="en-US" dirty="0"/>
              <a:t>Procedural content generation increases </a:t>
            </a:r>
            <a:r>
              <a:rPr lang="en-US" dirty="0" err="1"/>
              <a:t>replayability</a:t>
            </a:r>
            <a:r>
              <a:rPr lang="en-US" dirty="0"/>
              <a:t>.</a:t>
            </a:r>
          </a:p>
          <a:p>
            <a:pPr>
              <a:defRPr sz="2000">
                <a:solidFill>
                  <a:srgbClr val="2F2F2F"/>
                </a:solidFill>
              </a:defRPr>
            </a:pPr>
            <a:endParaRPr lang="en-US" dirty="0"/>
          </a:p>
          <a:p>
            <a:pPr>
              <a:defRPr sz="2000">
                <a:solidFill>
                  <a:srgbClr val="2F2F2F"/>
                </a:solidFill>
              </a:defRPr>
            </a:pPr>
            <a:r>
              <a:rPr lang="en-US" dirty="0"/>
              <a:t>Real-time decision-making enhances realism.</a:t>
            </a:r>
          </a:p>
          <a:p>
            <a:pPr>
              <a:defRPr sz="2000">
                <a:solidFill>
                  <a:srgbClr val="2F2F2F"/>
                </a:solidFill>
              </a:defRPr>
            </a:pPr>
            <a:endParaRPr lang="en-US" dirty="0"/>
          </a:p>
          <a:p>
            <a:pPr>
              <a:defRPr sz="2000">
                <a:solidFill>
                  <a:srgbClr val="2F2F2F"/>
                </a:solidFill>
              </a:defRPr>
            </a:pPr>
            <a:r>
              <a:rPr lang="en-US" dirty="0"/>
              <a:t>AI analytics improve game balancing.</a:t>
            </a:r>
          </a:p>
          <a:p>
            <a:pPr>
              <a:defRPr sz="2000">
                <a:solidFill>
                  <a:srgbClr val="2F2F2F"/>
                </a:solidFill>
              </a:defRPr>
            </a:pPr>
            <a:endParaRPr lang="en-US" dirty="0"/>
          </a:p>
          <a:p>
            <a:pPr>
              <a:defRPr sz="2000">
                <a:solidFill>
                  <a:srgbClr val="2F2F2F"/>
                </a:solidFill>
              </a:defRPr>
            </a:pPr>
            <a:r>
              <a:rPr lang="en-US" dirty="0"/>
              <a:t>Automated testing reduces development effort.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44396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AC12F4-371C-EE7D-05B9-0BDEAAF41C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2" y="261257"/>
            <a:ext cx="5486040" cy="914040"/>
          </a:xfrm>
        </p:spPr>
        <p:txBody>
          <a:bodyPr/>
          <a:lstStyle/>
          <a:p>
            <a:r>
              <a:rPr lang="en-US" dirty="0"/>
              <a:t>Advantages of AI</a:t>
            </a:r>
            <a:br>
              <a:rPr lang="en-US" dirty="0"/>
            </a:b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64D4DD-7AFE-B270-F0D2-AF1F36C37A9A}"/>
              </a:ext>
            </a:extLst>
          </p:cNvPr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pPr>
              <a:defRPr sz="2000">
                <a:solidFill>
                  <a:srgbClr val="2F2F2F"/>
                </a:solidFill>
              </a:defRPr>
            </a:pPr>
            <a:r>
              <a:rPr lang="en-US" dirty="0"/>
              <a:t>Enhanced realism and immersive experiences.</a:t>
            </a:r>
          </a:p>
          <a:p>
            <a:pPr>
              <a:defRPr sz="2000">
                <a:solidFill>
                  <a:srgbClr val="2F2F2F"/>
                </a:solidFill>
              </a:defRPr>
            </a:pPr>
            <a:endParaRPr lang="en-US" dirty="0"/>
          </a:p>
          <a:p>
            <a:pPr>
              <a:defRPr sz="2000">
                <a:solidFill>
                  <a:srgbClr val="2F2F2F"/>
                </a:solidFill>
              </a:defRPr>
            </a:pPr>
            <a:r>
              <a:rPr lang="en-US" dirty="0"/>
              <a:t>Improved player engagement through personalization.</a:t>
            </a:r>
          </a:p>
          <a:p>
            <a:pPr>
              <a:defRPr sz="2000">
                <a:solidFill>
                  <a:srgbClr val="2F2F2F"/>
                </a:solidFill>
              </a:defRPr>
            </a:pPr>
            <a:endParaRPr lang="en-US" dirty="0"/>
          </a:p>
          <a:p>
            <a:pPr>
              <a:defRPr sz="2000">
                <a:solidFill>
                  <a:srgbClr val="2F2F2F"/>
                </a:solidFill>
              </a:defRPr>
            </a:pPr>
            <a:r>
              <a:rPr lang="en-US" dirty="0"/>
              <a:t>Faster game development with automation.</a:t>
            </a:r>
          </a:p>
          <a:p>
            <a:pPr>
              <a:defRPr sz="2000">
                <a:solidFill>
                  <a:srgbClr val="2F2F2F"/>
                </a:solidFill>
              </a:defRPr>
            </a:pPr>
            <a:endParaRPr lang="en-US" dirty="0"/>
          </a:p>
          <a:p>
            <a:pPr>
              <a:defRPr sz="2000">
                <a:solidFill>
                  <a:srgbClr val="2F2F2F"/>
                </a:solidFill>
              </a:defRPr>
            </a:pPr>
            <a:r>
              <a:rPr lang="en-US" dirty="0"/>
              <a:t>Better scalability and intelligent balancing.</a:t>
            </a:r>
          </a:p>
          <a:p>
            <a:pPr>
              <a:defRPr sz="2000">
                <a:solidFill>
                  <a:srgbClr val="2F2F2F"/>
                </a:solidFill>
              </a:defRPr>
            </a:pPr>
            <a:endParaRPr lang="en-US" dirty="0"/>
          </a:p>
          <a:p>
            <a:pPr>
              <a:defRPr sz="2000">
                <a:solidFill>
                  <a:srgbClr val="2F2F2F"/>
                </a:solidFill>
              </a:defRPr>
            </a:pPr>
            <a:r>
              <a:rPr lang="en-US" dirty="0"/>
              <a:t>Efficient testing and debugging systems.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59117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06891A-09C5-4211-A995-1F3BC50558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086" y="130628"/>
            <a:ext cx="5486040" cy="914040"/>
          </a:xfrm>
        </p:spPr>
        <p:txBody>
          <a:bodyPr/>
          <a:lstStyle/>
          <a:p>
            <a:r>
              <a:rPr lang="en-US" sz="3200" dirty="0"/>
              <a:t>Challenges and Limitations</a:t>
            </a:r>
            <a:br>
              <a:rPr lang="en-US" sz="3200" dirty="0"/>
            </a:br>
            <a:endParaRPr lang="en-US" sz="32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83E5D9-4DF6-E1D0-FE08-B3D4AC252B53}"/>
              </a:ext>
            </a:extLst>
          </p:cNvPr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pPr>
              <a:defRPr sz="2000">
                <a:solidFill>
                  <a:srgbClr val="2F2F2F"/>
                </a:solidFill>
              </a:defRPr>
            </a:pPr>
            <a:r>
              <a:rPr lang="en-US" dirty="0"/>
              <a:t>High computational requirements.</a:t>
            </a:r>
          </a:p>
          <a:p>
            <a:pPr>
              <a:defRPr sz="2000">
                <a:solidFill>
                  <a:srgbClr val="2F2F2F"/>
                </a:solidFill>
              </a:defRPr>
            </a:pPr>
            <a:endParaRPr lang="en-US" dirty="0"/>
          </a:p>
          <a:p>
            <a:pPr>
              <a:defRPr sz="2000">
                <a:solidFill>
                  <a:srgbClr val="2F2F2F"/>
                </a:solidFill>
              </a:defRPr>
            </a:pPr>
            <a:r>
              <a:rPr lang="en-US" dirty="0"/>
              <a:t>Large datasets needed for training AI models.</a:t>
            </a:r>
          </a:p>
          <a:p>
            <a:pPr>
              <a:defRPr sz="2000">
                <a:solidFill>
                  <a:srgbClr val="2F2F2F"/>
                </a:solidFill>
              </a:defRPr>
            </a:pPr>
            <a:endParaRPr lang="en-US" dirty="0"/>
          </a:p>
          <a:p>
            <a:pPr>
              <a:defRPr sz="2000">
                <a:solidFill>
                  <a:srgbClr val="2F2F2F"/>
                </a:solidFill>
              </a:defRPr>
            </a:pPr>
            <a:r>
              <a:rPr lang="en-US" dirty="0"/>
              <a:t>Lack of transparency in deep learning systems.</a:t>
            </a:r>
          </a:p>
          <a:p>
            <a:pPr>
              <a:defRPr sz="2000">
                <a:solidFill>
                  <a:srgbClr val="2F2F2F"/>
                </a:solidFill>
              </a:defRPr>
            </a:pPr>
            <a:endParaRPr lang="en-US" dirty="0"/>
          </a:p>
          <a:p>
            <a:pPr>
              <a:defRPr sz="2000">
                <a:solidFill>
                  <a:srgbClr val="2F2F2F"/>
                </a:solidFill>
              </a:defRPr>
            </a:pPr>
            <a:r>
              <a:rPr lang="en-US" dirty="0"/>
              <a:t>Ethical concerns in gaming AI.</a:t>
            </a:r>
          </a:p>
          <a:p>
            <a:pPr>
              <a:defRPr sz="2000">
                <a:solidFill>
                  <a:srgbClr val="2F2F2F"/>
                </a:solidFill>
              </a:defRPr>
            </a:pPr>
            <a:endParaRPr lang="en-US" dirty="0"/>
          </a:p>
          <a:p>
            <a:pPr>
              <a:defRPr sz="2000">
                <a:solidFill>
                  <a:srgbClr val="2F2F2F"/>
                </a:solidFill>
              </a:defRPr>
            </a:pPr>
            <a:r>
              <a:rPr lang="en-US" dirty="0"/>
              <a:t>Complexity and increased development cost.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66488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E80CB-45A8-61DA-80A8-66CC00C7F8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185058"/>
            <a:ext cx="5486040" cy="914040"/>
          </a:xfrm>
        </p:spPr>
        <p:txBody>
          <a:bodyPr/>
          <a:lstStyle/>
          <a:p>
            <a:r>
              <a:rPr lang="en-US" dirty="0"/>
              <a:t>Future Scope</a:t>
            </a:r>
            <a:br>
              <a:rPr lang="en-US" dirty="0"/>
            </a:b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F1FF1A-B5D7-4E48-DFF2-696490380D86}"/>
              </a:ext>
            </a:extLst>
          </p:cNvPr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pPr>
              <a:defRPr sz="2000">
                <a:solidFill>
                  <a:srgbClr val="2F2F2F"/>
                </a:solidFill>
              </a:defRPr>
            </a:pPr>
            <a:r>
              <a:rPr lang="en-US" dirty="0"/>
              <a:t>Integration with Virtual Reality and Augmented Reality.</a:t>
            </a:r>
          </a:p>
          <a:p>
            <a:pPr>
              <a:defRPr sz="2000">
                <a:solidFill>
                  <a:srgbClr val="2F2F2F"/>
                </a:solidFill>
              </a:defRPr>
            </a:pPr>
            <a:endParaRPr lang="en-US" dirty="0"/>
          </a:p>
          <a:p>
            <a:pPr>
              <a:defRPr sz="2000">
                <a:solidFill>
                  <a:srgbClr val="2F2F2F"/>
                </a:solidFill>
              </a:defRPr>
            </a:pPr>
            <a:r>
              <a:rPr lang="en-US" dirty="0"/>
              <a:t>Development of Explainable AI models.</a:t>
            </a:r>
          </a:p>
          <a:p>
            <a:pPr>
              <a:defRPr sz="2000">
                <a:solidFill>
                  <a:srgbClr val="2F2F2F"/>
                </a:solidFill>
              </a:defRPr>
            </a:pPr>
            <a:endParaRPr lang="en-US" dirty="0"/>
          </a:p>
          <a:p>
            <a:pPr>
              <a:defRPr sz="2000">
                <a:solidFill>
                  <a:srgbClr val="2F2F2F"/>
                </a:solidFill>
              </a:defRPr>
            </a:pPr>
            <a:r>
              <a:rPr lang="en-US" dirty="0"/>
              <a:t>Emotion-aware gaming systems.</a:t>
            </a:r>
          </a:p>
          <a:p>
            <a:pPr>
              <a:defRPr sz="2000">
                <a:solidFill>
                  <a:srgbClr val="2F2F2F"/>
                </a:solidFill>
              </a:defRPr>
            </a:pPr>
            <a:endParaRPr lang="en-US" dirty="0"/>
          </a:p>
          <a:p>
            <a:pPr>
              <a:defRPr sz="2000">
                <a:solidFill>
                  <a:srgbClr val="2F2F2F"/>
                </a:solidFill>
              </a:defRPr>
            </a:pPr>
            <a:r>
              <a:rPr lang="en-US" dirty="0"/>
              <a:t>Adaptive storytelling and intelligent multiplayer systems.</a:t>
            </a:r>
          </a:p>
          <a:p>
            <a:pPr>
              <a:defRPr sz="2000">
                <a:solidFill>
                  <a:srgbClr val="2F2F2F"/>
                </a:solidFill>
              </a:defRPr>
            </a:pPr>
            <a:endParaRPr lang="en-US" dirty="0"/>
          </a:p>
          <a:p>
            <a:pPr>
              <a:defRPr sz="2000">
                <a:solidFill>
                  <a:srgbClr val="2F2F2F"/>
                </a:solidFill>
              </a:defRPr>
            </a:pPr>
            <a:r>
              <a:rPr lang="en-US" dirty="0"/>
              <a:t>Cloud gaming and edge AI innovations.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4378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A4F3C-37EB-134A-F4EF-D3A749E5B1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2" y="239486"/>
            <a:ext cx="5486040" cy="914040"/>
          </a:xfrm>
        </p:spPr>
        <p:txBody>
          <a:bodyPr/>
          <a:lstStyle/>
          <a:p>
            <a:r>
              <a:rPr lang="en-US" dirty="0"/>
              <a:t>Conclusion</a:t>
            </a:r>
            <a:br>
              <a:rPr lang="en-US" dirty="0"/>
            </a:b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395DC0-24A8-E8DA-C21B-B4B7A3492573}"/>
              </a:ext>
            </a:extLst>
          </p:cNvPr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pPr>
              <a:defRPr sz="2000">
                <a:solidFill>
                  <a:srgbClr val="2F2F2F"/>
                </a:solidFill>
              </a:defRPr>
            </a:pPr>
            <a:r>
              <a:rPr lang="en-US" dirty="0"/>
              <a:t>AI is revolutionizing the gaming industry.</a:t>
            </a:r>
          </a:p>
          <a:p>
            <a:pPr>
              <a:defRPr sz="2000">
                <a:solidFill>
                  <a:srgbClr val="2F2F2F"/>
                </a:solidFill>
              </a:defRPr>
            </a:pPr>
            <a:endParaRPr lang="en-US" dirty="0"/>
          </a:p>
          <a:p>
            <a:pPr>
              <a:defRPr sz="2000">
                <a:solidFill>
                  <a:srgbClr val="2F2F2F"/>
                </a:solidFill>
              </a:defRPr>
            </a:pPr>
            <a:r>
              <a:rPr lang="en-US" dirty="0"/>
              <a:t>Machine Learning and RL drive modern gaming innovation.</a:t>
            </a:r>
          </a:p>
          <a:p>
            <a:pPr>
              <a:defRPr sz="2000">
                <a:solidFill>
                  <a:srgbClr val="2F2F2F"/>
                </a:solidFill>
              </a:defRPr>
            </a:pPr>
            <a:endParaRPr lang="en-US" dirty="0"/>
          </a:p>
          <a:p>
            <a:pPr>
              <a:defRPr sz="2000">
                <a:solidFill>
                  <a:srgbClr val="2F2F2F"/>
                </a:solidFill>
              </a:defRPr>
            </a:pPr>
            <a:r>
              <a:rPr lang="en-US" dirty="0"/>
              <a:t>AI improves realism, adaptability, and efficiency.</a:t>
            </a:r>
          </a:p>
          <a:p>
            <a:pPr>
              <a:defRPr sz="2000">
                <a:solidFill>
                  <a:srgbClr val="2F2F2F"/>
                </a:solidFill>
              </a:defRPr>
            </a:pPr>
            <a:endParaRPr lang="en-US" dirty="0"/>
          </a:p>
          <a:p>
            <a:pPr>
              <a:defRPr sz="2000">
                <a:solidFill>
                  <a:srgbClr val="2F2F2F"/>
                </a:solidFill>
              </a:defRPr>
            </a:pPr>
            <a:r>
              <a:rPr lang="en-US" dirty="0"/>
              <a:t>Future games will become more immersive and intelligent.</a:t>
            </a:r>
          </a:p>
          <a:p>
            <a:pPr>
              <a:defRPr sz="2000">
                <a:solidFill>
                  <a:srgbClr val="2F2F2F"/>
                </a:solidFill>
              </a:defRPr>
            </a:pPr>
            <a:endParaRPr lang="en-US" dirty="0"/>
          </a:p>
          <a:p>
            <a:pPr>
              <a:defRPr sz="2000">
                <a:solidFill>
                  <a:srgbClr val="2F2F2F"/>
                </a:solidFill>
              </a:defRPr>
            </a:pPr>
            <a:r>
              <a:rPr lang="en-US" dirty="0"/>
              <a:t>AI will continue shaping interactive entertainment.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00630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1297577" y="2821578"/>
            <a:ext cx="6705599" cy="1410788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  <a:endParaRPr lang="en-US" sz="54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10</a:t>
            </a:fld>
            <a:endParaRPr lang="en-GB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344798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96F1BF43DDE004485E7A868D137D60A" ma:contentTypeVersion="0" ma:contentTypeDescription="Create a new document." ma:contentTypeScope="" ma:versionID="47fff7f98a9c49c088ba096c14cf4458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c05e9f2c4932a6a674126b9dde7716ea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491DF113-39A2-46D5-BFDA-E63300A9ECA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737ED6F0-5E4C-4CD0-9B68-9C53F925A6F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A62A602-78C1-468C-BB25-57CD481DB741}">
  <ds:schemaRefs>
    <ds:schemaRef ds:uri="http://purl.org/dc/terms/"/>
    <ds:schemaRef ds:uri="http://www.w3.org/XML/1998/namespace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purl.org/dc/elements/1.1/"/>
    <ds:schemaRef ds:uri="http://schemas.microsoft.com/office/infopath/2007/PartnerControls"/>
    <ds:schemaRef ds:uri="http://schemas.openxmlformats.org/package/2006/metadata/core-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34756</TotalTime>
  <Words>383</Words>
  <Application>Microsoft Office PowerPoint</Application>
  <PresentationFormat>On-screen Show (4:3)</PresentationFormat>
  <Paragraphs>106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Times New Roman</vt:lpstr>
      <vt:lpstr>Office Theme</vt:lpstr>
      <vt:lpstr>PowerPoint Presentation</vt:lpstr>
      <vt:lpstr>PowerPoint Presentation</vt:lpstr>
      <vt:lpstr>Research Objectives </vt:lpstr>
      <vt:lpstr>AI Techniques in Gaming </vt:lpstr>
      <vt:lpstr>Applications of AI </vt:lpstr>
      <vt:lpstr>Advantages of AI </vt:lpstr>
      <vt:lpstr>Challenges and Limitations </vt:lpstr>
      <vt:lpstr>Future Scope </vt:lpstr>
      <vt:lpstr>Conclusion </vt:lpstr>
      <vt:lpstr>PowerPoint Presentation</vt:lpstr>
    </vt:vector>
  </TitlesOfParts>
  <Company>CCC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ABC</dc:creator>
  <cp:lastModifiedBy>chiranjit singh</cp:lastModifiedBy>
  <cp:revision>2300</cp:revision>
  <dcterms:created xsi:type="dcterms:W3CDTF">2010-04-09T07:36:15Z</dcterms:created>
  <dcterms:modified xsi:type="dcterms:W3CDTF">2026-05-18T18:04:32Z</dcterms:modified>
  <dc:language>en-GB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Company">
    <vt:lpwstr>CCC</vt:lpwstr>
  </property>
  <property fmtid="{D5CDD505-2E9C-101B-9397-08002B2CF9AE}" pid="4" name="HiddenSlides">
    <vt:i4>0</vt:i4>
  </property>
  <property fmtid="{D5CDD505-2E9C-101B-9397-08002B2CF9AE}" pid="5" name="HyperlinksChanged">
    <vt:bool>false</vt:bool>
  </property>
  <property fmtid="{D5CDD505-2E9C-101B-9397-08002B2CF9AE}" pid="6" name="LinksUpToDate">
    <vt:bool>false</vt:bool>
  </property>
  <property fmtid="{D5CDD505-2E9C-101B-9397-08002B2CF9AE}" pid="7" name="MMClips">
    <vt:i4>0</vt:i4>
  </property>
  <property fmtid="{D5CDD505-2E9C-101B-9397-08002B2CF9AE}" pid="8" name="Notes">
    <vt:i4>0</vt:i4>
  </property>
  <property fmtid="{D5CDD505-2E9C-101B-9397-08002B2CF9AE}" pid="9" name="PresentationFormat">
    <vt:lpwstr>On-screen Show (4:3)</vt:lpwstr>
  </property>
  <property fmtid="{D5CDD505-2E9C-101B-9397-08002B2CF9AE}" pid="10" name="ScaleCrop">
    <vt:bool>false</vt:bool>
  </property>
  <property fmtid="{D5CDD505-2E9C-101B-9397-08002B2CF9AE}" pid="11" name="ShareDoc">
    <vt:bool>false</vt:bool>
  </property>
  <property fmtid="{D5CDD505-2E9C-101B-9397-08002B2CF9AE}" pid="12" name="Slides">
    <vt:i4>37</vt:i4>
  </property>
  <property fmtid="{D5CDD505-2E9C-101B-9397-08002B2CF9AE}" pid="13" name="ContentTypeId">
    <vt:lpwstr>0x010100096F1BF43DDE004485E7A868D137D60A</vt:lpwstr>
  </property>
</Properties>
</file>